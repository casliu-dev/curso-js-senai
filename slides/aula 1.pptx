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439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123444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1417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360920" y="1234440"/>
            <a:ext cx="4297680" cy="292608"/>
          </a:xfrm>
          <a:prstGeom prst="roundRect">
            <a:avLst>
              <a:gd name="adj" fmla="val 25000"/>
            </a:avLst>
          </a:prstGeom>
          <a:solidFill>
            <a:srgbClr val="2226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360920" y="1453896"/>
            <a:ext cx="4297680" cy="73152"/>
          </a:xfrm>
          <a:prstGeom prst="rect">
            <a:avLst/>
          </a:prstGeom>
          <a:solidFill>
            <a:srgbClr val="2226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0" y="132588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699248" y="132588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900416" y="132588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589520" y="1636776"/>
            <a:ext cx="3840480" cy="279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boasVindas</a:t>
            </a: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(nome) {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</a:t>
            </a: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`Bem-vindo(a), </a:t>
            </a:r>
            <a:r>
              <a:rPr lang="en-US" sz="15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${nome}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!`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boasVindas</a:t>
            </a: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"turma"</a:t>
            </a:r>
            <a:r>
              <a:rPr lang="en-US" sz="15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endParaRPr lang="en-US" sz="15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Bem-vindo(a), turma!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82296" cy="1417320"/>
          </a:xfrm>
          <a:prstGeom prst="rect">
            <a:avLst/>
          </a:prstGeom>
          <a:solidFill>
            <a:srgbClr val="F0DB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1874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Bem-vindos(as) ao curso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em JavaScript — dando vida e comportamento à web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240" y="4297680"/>
            <a:ext cx="566928" cy="566928"/>
          </a:xfrm>
          <a:prstGeom prst="ellipse">
            <a:avLst/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/home/claude/build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9" y="4425239"/>
            <a:ext cx="311810" cy="31181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08760" y="42976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 e apresentação do curso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SENAI?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SENAI </a:t>
            </a:r>
            <a:r>
              <a:rPr lang="en-US" sz="1550" b="1" dirty="0">
                <a:solidFill>
                  <a:srgbClr val="E6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(Serviço Nacional de Aprendizagem Industrial) </a:t>
            </a: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criado em </a:t>
            </a:r>
            <a:r>
              <a:rPr lang="en-US" sz="1550" b="1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</a:t>
            </a:r>
            <a:r>
              <a:rPr lang="en-US" sz="1550" dirty="0">
                <a:solidFill>
                  <a:srgbClr val="3D4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o objetivo de qualificar a mão de obra para atender às demandas da indústria brasileira.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mais de 2 mil municípios, oferece cursos em diversos níveis da educação profissional e tecnológica, ajudando a fortalecer o desenvolvimento do setor industrial no país.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E1E3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4892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de criação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41605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E1E3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743200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mil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4892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atendidos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4160520"/>
            <a:ext cx="2011680" cy="1371600"/>
          </a:xfrm>
          <a:prstGeom prst="roundRect">
            <a:avLst>
              <a:gd name="adj" fmla="val 4000"/>
            </a:avLst>
          </a:prstGeom>
          <a:solidFill>
            <a:srgbClr val="F2F3F5"/>
          </a:solidFill>
          <a:ln w="12700">
            <a:solidFill>
              <a:srgbClr val="E1E3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37760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74920" y="4892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e regiões com unidades SENAI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78040" y="1463040"/>
            <a:ext cx="4480560" cy="4434840"/>
          </a:xfrm>
          <a:prstGeom prst="roundRect">
            <a:avLst>
              <a:gd name="adj" fmla="val 1237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961120" y="1828800"/>
            <a:ext cx="914400" cy="914400"/>
          </a:xfrm>
          <a:prstGeom prst="ellipse">
            <a:avLst/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0" descr="/home/claude/build/icons/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0" y="203454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523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profissional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952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72668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qualificados para a indústria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8952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Inovar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7726680" y="45262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acompanhando as tecnologias do mercado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58952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726680" y="5303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levando educação técnica a todo o país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ESTÁ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SENAI Paulo Antonio Skaf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Caetano do Sul — Informática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148840"/>
            <a:ext cx="640080" cy="640080"/>
          </a:xfrm>
          <a:prstGeom prst="ellipse">
            <a:avLst/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build/icons/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540" y="23088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livres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3337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Capacitações rápidas e pontuais, direto para o mercado.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51960" y="196596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434840" y="2148840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4348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720840" y="2148840"/>
            <a:ext cx="640080" cy="640080"/>
          </a:xfrm>
          <a:prstGeom prst="ellipse">
            <a:avLst/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1" descr="/home/claude/build/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23088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48056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técnicos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480560" y="3337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técnica profissionalizante, com habilitação reconhecida.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955280" y="1965960"/>
            <a:ext cx="3383280" cy="2834640"/>
          </a:xfrm>
          <a:prstGeom prst="roundRect">
            <a:avLst>
              <a:gd name="adj" fmla="val 1935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8138160" y="2148840"/>
            <a:ext cx="502920" cy="502920"/>
          </a:xfrm>
          <a:prstGeom prst="roundRect">
            <a:avLst>
              <a:gd name="adj" fmla="val 36364"/>
            </a:avLst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81381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10424160" y="2148840"/>
            <a:ext cx="640080" cy="640080"/>
          </a:xfrm>
          <a:prstGeom prst="ellipse">
            <a:avLst/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2" descr="/home/claude/build/icons/gr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4180" y="230886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83880" y="2880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superiores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183880" y="33375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Graduação e pós-graduação tecnológica.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48640" y="5120640"/>
            <a:ext cx="10881360" cy="0"/>
          </a:xfrm>
          <a:prstGeom prst="line">
            <a:avLst/>
          </a:prstGeom>
          <a:noFill/>
          <a:ln w="12700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2"/>
          <p:cNvSpPr/>
          <p:nvPr/>
        </p:nvSpPr>
        <p:spPr>
          <a:xfrm>
            <a:off x="54864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aqui: </a:t>
            </a:r>
            <a:r>
              <a:rPr lang="en-US" sz="13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técnico/livre de Desenvolvimento em JavaScript, dentro da trilha de Informática.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B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nos conhecer?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aluno(a) se apresenta respondendo estas 4 perguntas.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7F5F2"/>
          </a:solidFill>
          <a:ln w="12700">
            <a:solidFill>
              <a:srgbClr val="E7E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seu nome?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00600" y="2194560"/>
            <a:ext cx="640080" cy="640080"/>
          </a:xfrm>
          <a:prstGeom prst="ellipse">
            <a:avLst/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0" descr="/home/claude/build/icons/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2354580"/>
            <a:ext cx="3200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26480" y="192024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7F5F2"/>
          </a:solidFill>
          <a:ln w="12700">
            <a:solidFill>
              <a:srgbClr val="E7E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4008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269480" y="21945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é a sua idade?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378440" y="2194560"/>
            <a:ext cx="640080" cy="640080"/>
          </a:xfrm>
          <a:prstGeom prst="ellipse">
            <a:avLst/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1" descr="/home/claude/build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460" y="2354580"/>
            <a:ext cx="320040" cy="320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" y="393192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7F5F2"/>
          </a:solidFill>
          <a:ln w="12700">
            <a:solidFill>
              <a:srgbClr val="E7E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169164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área você está ou tem interesse?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800600" y="4206240"/>
            <a:ext cx="640080" cy="640080"/>
          </a:xfrm>
          <a:prstGeom prst="ellipse">
            <a:avLst/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/home/claude/build/icons/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4366260"/>
            <a:ext cx="320040" cy="3200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26480" y="3931920"/>
            <a:ext cx="5257800" cy="1737360"/>
          </a:xfrm>
          <a:prstGeom prst="roundRect">
            <a:avLst>
              <a:gd name="adj" fmla="val 3158"/>
            </a:avLst>
          </a:prstGeom>
          <a:solidFill>
            <a:srgbClr val="F7F5F2"/>
          </a:solidFill>
          <a:ln w="12700">
            <a:solidFill>
              <a:srgbClr val="E7E3D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400800" y="4206240"/>
            <a:ext cx="640080" cy="640080"/>
          </a:xfrm>
          <a:prstGeom prst="ellipse">
            <a:avLst/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64008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6948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sua expectativa referente ao curso?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0378440" y="4206240"/>
            <a:ext cx="640080" cy="640080"/>
          </a:xfrm>
          <a:prstGeom prst="ellipse">
            <a:avLst/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8" name="Image 3" descr="/home/claude/build/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8460" y="436626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JavaScript?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88720" cy="1188720"/>
          </a:xfrm>
          <a:prstGeom prst="ellipse">
            <a:avLst/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Image 0" descr="/home/claude/build/icons/j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6654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8745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programação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permite adicionar interatividade a sua página web.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no navegador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9184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também fora dele, no servidor (com Node.js).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dinâmica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91840" y="4480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reage a cliques, formulários, tempo, dados — em tempo real.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440680"/>
            <a:ext cx="10881360" cy="822960"/>
          </a:xfrm>
          <a:prstGeom prst="roundRect">
            <a:avLst>
              <a:gd name="adj" fmla="val 5556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2960" y="54406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D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3ª peça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291840" y="5440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HTML (estrutura) e do CSS (estilo), o JS dá comportamento.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B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o JavaScript?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tecnologias da web, cada uma com sua responsabilidade.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4160520"/>
          </a:xfrm>
          <a:prstGeom prst="roundRect">
            <a:avLst>
              <a:gd name="adj" fmla="val 1622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44D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383280" cy="594360"/>
          </a:xfrm>
          <a:prstGeom prst="rect">
            <a:avLst/>
          </a:prstGeom>
          <a:solidFill>
            <a:srgbClr val="E44D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874520" y="2103120"/>
            <a:ext cx="731520" cy="731520"/>
          </a:xfrm>
          <a:prstGeom prst="ellipse">
            <a:avLst/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build/icons/html5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112" y="226771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3502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977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esqueleto: a estrutura e os elementos da página.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51960" y="1874520"/>
            <a:ext cx="3383280" cy="4160520"/>
          </a:xfrm>
          <a:prstGeom prst="roundRect">
            <a:avLst>
              <a:gd name="adj" fmla="val 1622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51960" y="187452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2965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251960" y="2468880"/>
            <a:ext cx="3383280" cy="594360"/>
          </a:xfrm>
          <a:prstGeom prst="rect">
            <a:avLst/>
          </a:prstGeom>
          <a:solidFill>
            <a:srgbClr val="2965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5577840" y="2103120"/>
            <a:ext cx="731520" cy="731520"/>
          </a:xfrm>
          <a:prstGeom prst="ellipse">
            <a:avLst/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/home/claude/build/icons/br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267712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5196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251960" y="3502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26280" y="3977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aparência: cores, roupas e estilo visual.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955280" y="1874520"/>
            <a:ext cx="3383280" cy="4160520"/>
          </a:xfrm>
          <a:prstGeom prst="roundRect">
            <a:avLst>
              <a:gd name="adj" fmla="val 1622"/>
            </a:avLst>
          </a:prstGeom>
          <a:solidFill>
            <a:srgbClr val="1B1F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7955280" y="187452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19"/>
          <p:cNvSpPr/>
          <p:nvPr/>
        </p:nvSpPr>
        <p:spPr>
          <a:xfrm>
            <a:off x="7955280" y="2468880"/>
            <a:ext cx="3383280" cy="594360"/>
          </a:xfrm>
          <a:prstGeom prst="rect">
            <a:avLst/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0"/>
          <p:cNvSpPr/>
          <p:nvPr/>
        </p:nvSpPr>
        <p:spPr>
          <a:xfrm>
            <a:off x="9281160" y="2103120"/>
            <a:ext cx="731520" cy="731520"/>
          </a:xfrm>
          <a:prstGeom prst="ellipse">
            <a:avLst/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2" descr="/home/claude/build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5752" y="2267712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7955280" y="3502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Dynamism / Action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29600" y="3977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ação: o que a página faz e como ela reage.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8503920" y="507492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F0DB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8503920" y="5074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você quem começa agora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trabalho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abre portas nas duas pontas do desenvolvimento web.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4023360"/>
          </a:xfrm>
          <a:prstGeom prst="roundRect">
            <a:avLst>
              <a:gd name="adj" fmla="val 1364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777240" cy="777240"/>
          </a:xfrm>
          <a:prstGeom prst="ellipse">
            <a:avLst/>
          </a:prstGeom>
          <a:solidFill>
            <a:srgbClr val="D4B90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build/icons/lap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24345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o que o usuário vê e interage — sites, dashboards, aplicativos.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 puro (DOM, eventos)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526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937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5349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D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Native (mobile)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72200" y="1965960"/>
            <a:ext cx="5257800" cy="4023360"/>
          </a:xfrm>
          <a:prstGeom prst="roundRect">
            <a:avLst>
              <a:gd name="adj" fmla="val 1364"/>
            </a:avLst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6446520" y="2240280"/>
            <a:ext cx="777240" cy="777240"/>
          </a:xfrm>
          <a:prstGeom prst="ellipse">
            <a:avLst/>
          </a:prstGeom>
          <a:solidFill>
            <a:srgbClr val="1B2E1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1" descr="/home/claude/build/icons/nodej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2434590"/>
            <a:ext cx="388620" cy="3886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5236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446520" y="320040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o que roda nos bastidores — servidores, APIs, banco de dados.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46520" y="41148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9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72084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46520" y="45262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9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720840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446520" y="4937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9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720840" y="4937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APIs REST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446520" y="5349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39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72084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ADF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Bancos de dados (SQL / NoSQL)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B9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PRONTOS PARA COMEÇAR!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World!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jornada em programação começa com o clássico Hello World.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4480560"/>
          </a:xfrm>
          <a:prstGeom prst="roundRect">
            <a:avLst>
              <a:gd name="adj" fmla="val 1633"/>
            </a:avLst>
          </a:prstGeom>
          <a:solidFill>
            <a:srgbClr val="0F111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109960" cy="292608"/>
          </a:xfrm>
          <a:prstGeom prst="roundRect">
            <a:avLst>
              <a:gd name="adj" fmla="val 25000"/>
            </a:avLst>
          </a:prstGeom>
          <a:solidFill>
            <a:srgbClr val="2226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48640" y="2093976"/>
            <a:ext cx="11109960" cy="73152"/>
          </a:xfrm>
          <a:prstGeom prst="rect">
            <a:avLst/>
          </a:prstGeom>
          <a:solidFill>
            <a:srgbClr val="2226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86968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8813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2276856"/>
            <a:ext cx="10652760" cy="4137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</a:t>
            </a:r>
            <a:r>
              <a:rPr lang="en-US" sz="15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</a:t>
            </a: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da sua página</a:t>
            </a: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World! :)</a:t>
            </a: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 primeiro hello world em HTML</a:t>
            </a: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&lt;script&gt;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5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JavaScript!"</a:t>
            </a: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&lt;/script&gt;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0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SENAI-SP  ·  Desenvolvimento em JavaScript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937760" y="1463040"/>
            <a:ext cx="1188720" cy="1188720"/>
          </a:xfrm>
          <a:prstGeom prst="ellipse">
            <a:avLst/>
          </a:prstGeom>
          <a:solidFill>
            <a:srgbClr val="252B3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home/claude/build/icons/j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1700784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34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começar essa jornada juntos!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718304" y="3749040"/>
            <a:ext cx="0" cy="1005840"/>
          </a:xfrm>
          <a:prstGeom prst="line">
            <a:avLst/>
          </a:prstGeom>
          <a:noFill/>
          <a:ln w="12700">
            <a:solidFill>
              <a:srgbClr val="3A41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30936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REGIONAL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SÃO PAULO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936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www.sp.senai.br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E6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14400" y="37033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SENAI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665</Words>
  <Application>Microsoft Macintosh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em JavaScript - Boas-vindas</dc:title>
  <dc:subject>PptxGenJS Presentation</dc:subject>
  <dc:creator>SENAI-SP</dc:creator>
  <cp:lastModifiedBy>Lucas Ribeiro de Lacerda</cp:lastModifiedBy>
  <cp:revision>3</cp:revision>
  <dcterms:created xsi:type="dcterms:W3CDTF">2026-07-13T23:14:34Z</dcterms:created>
  <dcterms:modified xsi:type="dcterms:W3CDTF">2026-07-13T23:21:25Z</dcterms:modified>
</cp:coreProperties>
</file>